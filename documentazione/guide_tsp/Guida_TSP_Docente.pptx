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0000"/>
                </a:solidFill>
                <a:latin typeface="Calibri"/>
              </a:rPr>
              <a:t>TSP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0000"/>
                </a:solidFill>
                <a:latin typeface="Calibri"/>
              </a:rPr>
              <a:t>DOCENTE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61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Link di accesso:</a:t>
            </a:r>
            <a:r>
              <a:rPr sz="1800" b="0">
                <a:solidFill>
                  <a:srgbClr val="000000"/>
                </a:solidFill>
                <a:latin typeface="Calibri"/>
              </a:rPr>
              <a:t> </a:t>
            </a:r>
            <a:r>
              <a:rPr sz="1800" b="1">
                <a:solidFill>
                  <a:srgbClr val="467886"/>
                </a:solidFill>
                <a:latin typeface="Calibri"/>
              </a:rPr>
              <a:t>https://unical.tsp.esse3.cineca.it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Che ruolo svolge il docente?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BE0000"/>
                </a:solidFill>
                <a:latin typeface="Calibri"/>
              </a:rPr>
              <a:t>TIROCINI INTERNI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879600"/>
            <a:ext cx="1102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Ricopre il doppio ruolo di </a:t>
            </a:r>
            <a:r>
              <a:rPr sz="2200" b="1">
                <a:solidFill>
                  <a:srgbClr val="000000"/>
                </a:solidFill>
                <a:latin typeface="Calibri"/>
              </a:rPr>
              <a:t>tutor aziendale</a:t>
            </a:r>
            <a:r>
              <a:rPr sz="2200" b="0">
                <a:solidFill>
                  <a:srgbClr val="000000"/>
                </a:solidFill>
                <a:latin typeface="Calibri"/>
              </a:rPr>
              <a:t> e </a:t>
            </a:r>
            <a:r>
              <a:rPr sz="2200" b="1">
                <a:solidFill>
                  <a:srgbClr val="000000"/>
                </a:solidFill>
                <a:latin typeface="Calibri"/>
              </a:rPr>
              <a:t>tutor accademico</a:t>
            </a:r>
            <a:r>
              <a:rPr sz="22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73050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E0000"/>
                </a:solidFill>
                <a:latin typeface="Calibri"/>
              </a:rPr>
              <a:t>COME TUTOR AZIENDALE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3238500"/>
            <a:ext cx="53340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Avvia uno stage</a:t>
            </a:r>
          </a:p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Compila il progetto formativo</a:t>
            </a:r>
          </a:p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Approva il registro delle presenze</a:t>
            </a:r>
          </a:p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Compila il questionario di valutazione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273050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E0000"/>
                </a:solidFill>
                <a:latin typeface="Calibri"/>
              </a:rPr>
              <a:t>COME TUTOR ACCADEMICO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3238500"/>
            <a:ext cx="53340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Firma digitalmente la relazione di fine tirocinio</a:t>
            </a:r>
          </a:p>
          <a:p>
            <a:pPr algn="l" marL="254000" indent="-254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•	Approva il riconoscimento dei crediti di tirocinio in carriera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Che ruolo svolge il docente?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BE0000"/>
                </a:solidFill>
                <a:latin typeface="Calibri"/>
              </a:rPr>
              <a:t>TIROCINI ESTERNI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879600"/>
            <a:ext cx="1102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Ricopre il solo ruolo di </a:t>
            </a:r>
            <a:r>
              <a:rPr sz="2200" b="1">
                <a:solidFill>
                  <a:srgbClr val="000000"/>
                </a:solidFill>
                <a:latin typeface="Calibri"/>
              </a:rPr>
              <a:t>tutor accademico</a:t>
            </a:r>
            <a:r>
              <a:rPr sz="22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730500"/>
            <a:ext cx="110236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4000" indent="-254000">
              <a:spcAft>
                <a:spcPts val="12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	Conferma il progetto formativo</a:t>
            </a:r>
          </a:p>
          <a:p>
            <a:pPr algn="l" marL="254000" indent="-254000">
              <a:spcAft>
                <a:spcPts val="12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	Firma digitalmente la relazione finale</a:t>
            </a:r>
          </a:p>
          <a:p>
            <a:pPr algn="l" marL="254000" indent="-254000">
              <a:spcAft>
                <a:spcPts val="12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	Approva il riconoscimento dei crediti in carriera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2730500"/>
            <a:ext cx="9144000" cy="13970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2730500"/>
            <a:ext cx="91440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TIROCINI INTERNI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Avviare uno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Qualora si conosca già la studentessa/lo studente con cui si vuole avviare il tirocinio, è possibile cliccare su «Avvio stage», sotto «Area contatto aziendale», e digitare la matricola della studentessa o dello studente.</a:t>
            </a:r>
          </a:p>
        </p:txBody>
      </p:sp>
      <p:pic>
        <p:nvPicPr>
          <p:cNvPr id="8" name="Picture 7" descr="d3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422" y="2631440"/>
            <a:ext cx="8979154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Compilazione progetto formativo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In seguito all’avvio dello stage o, nel caso in cui si riceva una notifica dall’Ufficio Tirocini che informa il/la docente dell’approvazione di una proposta di stage, cliccare sulla voce «I miei stagisti» e avviare la compilazione del progetto formativo.</a:t>
            </a:r>
          </a:p>
        </p:txBody>
      </p:sp>
      <p:pic>
        <p:nvPicPr>
          <p:cNvPr id="8" name="Picture 7" descr="d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9" y="2914650"/>
            <a:ext cx="10505581" cy="3435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Compilazione progetto formativo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Compilare il progetto formativo in ogni sua parte, avendo cura di riportare interamente gli obiettivi formativi e, infine, di approvarlo.</a:t>
            </a:r>
          </a:p>
        </p:txBody>
      </p:sp>
      <p:pic>
        <p:nvPicPr>
          <p:cNvPr id="8" name="Picture 7" descr="d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23" y="2696210"/>
            <a:ext cx="9815753" cy="3653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Compilazione progetto formativo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Compilare il progetto formativo in ogni sua parte, avendo cura di compilare tutti i campi obbligatori presenti nelle varie schede e, infine, di approvarlo.</a:t>
            </a:r>
          </a:p>
        </p:txBody>
      </p:sp>
      <p:pic>
        <p:nvPicPr>
          <p:cNvPr id="8" name="Picture 7" descr="d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23" y="2696210"/>
            <a:ext cx="9815753" cy="3653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13" b="1">
                <a:solidFill>
                  <a:srgbClr val="FFFFFF"/>
                </a:solidFill>
                <a:latin typeface="Calibri"/>
              </a:rPr>
              <a:t>Conferma del progetto formativo e avvio del tirocinio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22400"/>
            <a:ext cx="1102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Calibri"/>
              </a:rPr>
              <a:t>Una volta approvato il progetto formativo: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68500"/>
            <a:ext cx="110236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4000" indent="-254000"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	lo/la studente/ssa conferma il progetto formativo, avendo cura di inserire la data di conseguimento del corso di formazione generale in materia di salute e sicurezza sul lavoro;</a:t>
            </a:r>
          </a:p>
          <a:p>
            <a:pPr algn="l" marL="254000" indent="-254000"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	l’Ufficio Tirocini del Dipartimento conferma il progetto formativo.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4064000"/>
            <a:ext cx="1102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Una volta inserite le conferme necessarie da parte di tutti i soggetti coinvolti, il tirocinio passa allo stato </a:t>
            </a:r>
            <a:r>
              <a:rPr sz="2000" b="1">
                <a:solidFill>
                  <a:srgbClr val="000000"/>
                </a:solidFill>
                <a:latin typeface="Calibri"/>
              </a:rPr>
              <a:t>AVVIATO</a:t>
            </a:r>
            <a:r>
              <a:rPr sz="2000" b="0">
                <a:solidFill>
                  <a:srgbClr val="000000"/>
                </a:solidFill>
                <a:latin typeface="Calibri"/>
              </a:rPr>
              <a:t> (sempre visibile nella sezione «I miei stagisti»).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5207000"/>
            <a:ext cx="11023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E0000"/>
                </a:solidFill>
                <a:latin typeface="Calibri"/>
              </a:rPr>
              <a:t>Solo dopo il passaggio allo stato «avviato» è possibile iniziare le attività di tirocinio.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96" b="1">
                <a:solidFill>
                  <a:srgbClr val="FFFFFF"/>
                </a:solidFill>
                <a:latin typeface="Calibri"/>
              </a:rPr>
              <a:t>Approvazione del registro presenze e compilazione del questionario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Al termine del periodo di tirocinio, il/la tutor aziendale deve: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52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	verificare e approvare il registro presenze (accessibile dalla voce «Periodi», sempre, o dal pulsante apposito, solo al termine dello stage);</a:t>
            </a:r>
          </a:p>
          <a:p>
            <a:pPr algn="l" marL="228600" indent="-2286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	compilare il questionario di valutazione finale (accessibile dalla voce «Valutazione»).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984500"/>
            <a:ext cx="110236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Entrambi sono disponibili nella sezione «I miei stagisti».</a:t>
            </a:r>
          </a:p>
        </p:txBody>
      </p:sp>
      <p:pic>
        <p:nvPicPr>
          <p:cNvPr id="10" name="Picture 9" descr="d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66" y="3502660"/>
            <a:ext cx="5910066" cy="2847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545" b="1">
                <a:solidFill>
                  <a:srgbClr val="FFFFFF"/>
                </a:solidFill>
                <a:latin typeface="Calibri"/>
              </a:rPr>
              <a:t>Riconoscimento CFU e approvazione definitiva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Terminati i passaggi sopra indicati, e solo dopo aver ricevuto la notifica dell’Ufficio Tirocini che autorizza il riconoscimento dei CFU in carriera, è possibile approvare il riconoscimento cliccando su «Valutazione PF e riconoscimento crediti».</a:t>
            </a:r>
          </a:p>
        </p:txBody>
      </p:sp>
      <p:pic>
        <p:nvPicPr>
          <p:cNvPr id="8" name="Picture 7" descr="d5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59" y="2724150"/>
            <a:ext cx="8544681" cy="3625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545" b="1">
                <a:solidFill>
                  <a:srgbClr val="FFFFFF"/>
                </a:solidFill>
                <a:latin typeface="Calibri"/>
              </a:rPr>
              <a:t>Riconoscimento CFU e approvazione definitiva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Poi cliccare su «Richieste di riconoscimento in attesa di approvazione definitiva».</a:t>
            </a:r>
          </a:p>
        </p:txBody>
      </p:sp>
      <p:pic>
        <p:nvPicPr>
          <p:cNvPr id="8" name="Picture 7" descr="d6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2336800"/>
            <a:ext cx="11176000" cy="2963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545" b="1">
                <a:solidFill>
                  <a:srgbClr val="FFFFFF"/>
                </a:solidFill>
                <a:latin typeface="Calibri"/>
              </a:rPr>
              <a:t>Riconoscimento CFU e approvazione definitiva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Selezionare la studentessa/lo studente attraverso la lente d’ingrandimento nella colonna «Azioni».</a:t>
            </a:r>
          </a:p>
        </p:txBody>
      </p:sp>
      <p:pic>
        <p:nvPicPr>
          <p:cNvPr id="8" name="Picture 7" descr="d6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201" y="2517140"/>
            <a:ext cx="9215596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2730500"/>
            <a:ext cx="9144000" cy="13970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2730500"/>
            <a:ext cx="91440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TIROCINI ESTERNI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85" b="1">
                <a:solidFill>
                  <a:srgbClr val="FFFFFF"/>
                </a:solidFill>
                <a:latin typeface="Calibri"/>
              </a:rPr>
              <a:t>Validazione del progetto formativo e approvazione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Nel caso dei tirocini esterni, il/la docente deve validare i contenuti del progetto formativo già compilato dall’azienda e confermato dallo/dalla studente/ssa, cliccando su «Valutazione PF e riconoscimento crediti» sotto «Area docente».</a:t>
            </a:r>
          </a:p>
        </p:txBody>
      </p:sp>
      <p:pic>
        <p:nvPicPr>
          <p:cNvPr id="8" name="Picture 7" descr="d5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651" y="2801620"/>
            <a:ext cx="8362697" cy="35483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85" b="1">
                <a:solidFill>
                  <a:srgbClr val="FFFFFF"/>
                </a:solidFill>
                <a:latin typeface="Calibri"/>
              </a:rPr>
              <a:t>Validazione del progetto formativo e approvazione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Poi cliccare su «Progetti formativi in attesa di approvazione».</a:t>
            </a:r>
          </a:p>
        </p:txBody>
      </p:sp>
      <p:pic>
        <p:nvPicPr>
          <p:cNvPr id="8" name="Picture 7" descr="d7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2628900"/>
            <a:ext cx="11176000" cy="29640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85" b="1">
                <a:solidFill>
                  <a:srgbClr val="FFFFFF"/>
                </a:solidFill>
                <a:latin typeface="Calibri"/>
              </a:rPr>
              <a:t>Validazione del progetto formativo e approvazione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Accedere al progetto formativo attraverso la voce «Azioni» per verificarne i contenuti.</a:t>
            </a:r>
          </a:p>
        </p:txBody>
      </p:sp>
      <p:pic>
        <p:nvPicPr>
          <p:cNvPr id="8" name="Picture 7" descr="d7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614" y="2604770"/>
            <a:ext cx="9004771" cy="3745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85" b="1">
                <a:solidFill>
                  <a:srgbClr val="FFFFFF"/>
                </a:solidFill>
                <a:latin typeface="Calibri"/>
              </a:rPr>
              <a:t>Validazione del progetto formativo e approvazione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371600"/>
            <a:ext cx="1102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È possibile anche approvare in blocco i progetti formativi in attesa di approvazione, selezionando quelli desiderati (flag sulla sinistra) e cliccando sull’apposita voce.</a:t>
            </a:r>
          </a:p>
        </p:txBody>
      </p:sp>
      <p:pic>
        <p:nvPicPr>
          <p:cNvPr id="8" name="Picture 7" descr="d8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066" y="2828290"/>
            <a:ext cx="8479867" cy="35217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545" b="1">
                <a:solidFill>
                  <a:srgbClr val="FFFFFF"/>
                </a:solidFill>
                <a:latin typeface="Calibri"/>
              </a:rPr>
              <a:t>Riconoscimento CFU e approvazione definitiva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905000"/>
            <a:ext cx="110236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Dopo aver ricevuto la notifica dell’Ufficio Tirocini che autorizza il riconoscimento dei CFU in carriera, è possibile approvare il riconoscimento cliccando su «Valutazione PF e riconoscimento crediti», come già indicato nelle slide 11, 12 e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