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000000"/>
                </a:solidFill>
                <a:latin typeface="Calibri"/>
              </a:rPr>
              <a:t>TSP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000000"/>
                </a:solidFill>
                <a:latin typeface="Calibri"/>
              </a:rPr>
              <a:t>STUDENTE/STUDENTESSA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6100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Link di accesso:</a:t>
            </a:r>
            <a:r>
              <a:rPr sz="1800" b="0">
                <a:solidFill>
                  <a:srgbClr val="000000"/>
                </a:solidFill>
                <a:latin typeface="Calibri"/>
              </a:rPr>
              <a:t> </a:t>
            </a:r>
            <a:r>
              <a:rPr sz="1800" b="1">
                <a:solidFill>
                  <a:srgbClr val="467886"/>
                </a:solidFill>
                <a:latin typeface="Calibri"/>
              </a:rPr>
              <a:t>https://unical.tsp.esse3.cineca.it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Primi passi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1524000"/>
            <a:ext cx="1117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BE0000"/>
                </a:solidFill>
                <a:latin typeface="Calibri"/>
              </a:rPr>
              <a:t>Prima di inoltrare la domanda di tirocinio è necessario: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2286000"/>
            <a:ext cx="11176000" cy="40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1800" indent="-431800">
              <a:spcAft>
                <a:spcPts val="1800"/>
              </a:spcAft>
            </a:pPr>
            <a:r>
              <a:rPr sz="2300" b="1">
                <a:solidFill>
                  <a:srgbClr val="000000"/>
                </a:solidFill>
                <a:latin typeface="Calibri"/>
              </a:rPr>
              <a:t>1.	Completare con esito positivo il </a:t>
            </a:r>
            <a:r>
              <a:rPr sz="2300" b="1">
                <a:solidFill>
                  <a:srgbClr val="467886"/>
                </a:solidFill>
                <a:latin typeface="Calibri"/>
              </a:rPr>
              <a:t>corso di formazione generale in materia di salute e sicurezza sul lavoro</a:t>
            </a:r>
            <a:r>
              <a:rPr sz="2300" b="1">
                <a:solidFill>
                  <a:srgbClr val="000000"/>
                </a:solidFill>
                <a:latin typeface="Calibri"/>
              </a:rPr>
              <a:t> (chiave di iscrizione: </a:t>
            </a:r>
            <a:r>
              <a:rPr sz="2300" b="1">
                <a:solidFill>
                  <a:srgbClr val="000000"/>
                </a:solidFill>
                <a:latin typeface="Calibri"/>
              </a:rPr>
              <a:t>sicurezza.2023</a:t>
            </a:r>
            <a:r>
              <a:rPr sz="2300" b="1">
                <a:solidFill>
                  <a:srgbClr val="000000"/>
                </a:solidFill>
                <a:latin typeface="Calibri"/>
              </a:rPr>
              <a:t>).</a:t>
            </a:r>
          </a:p>
          <a:p>
            <a:pPr algn="l" marL="431800" indent="-431800">
              <a:spcAft>
                <a:spcPts val="1800"/>
              </a:spcAft>
            </a:pPr>
            <a:r>
              <a:rPr sz="2300" b="1">
                <a:solidFill>
                  <a:srgbClr val="000000"/>
                </a:solidFill>
                <a:latin typeface="Calibri"/>
              </a:rPr>
              <a:t>2.	Individuare l’ente/azienda esterna o un laboratorio interno UNICAL.</a:t>
            </a:r>
          </a:p>
          <a:p>
            <a:pPr algn="l" marL="431800" indent="-431800">
              <a:spcAft>
                <a:spcPts val="1800"/>
              </a:spcAft>
            </a:pPr>
            <a:r>
              <a:rPr sz="2300" b="1">
                <a:solidFill>
                  <a:srgbClr val="000000"/>
                </a:solidFill>
                <a:latin typeface="Calibri"/>
              </a:rPr>
              <a:t>3.	Contattare l’ente/azienda o il laboratorio interno e chiedere la disponibilità ad accogliere il tirocinio.</a:t>
            </a:r>
          </a:p>
          <a:p>
            <a:pPr algn="l" marL="431800" indent="-431800">
              <a:spcAft>
                <a:spcPts val="1800"/>
              </a:spcAft>
            </a:pPr>
            <a:r>
              <a:rPr sz="2300" b="1">
                <a:solidFill>
                  <a:srgbClr val="000000"/>
                </a:solidFill>
                <a:latin typeface="Calibri"/>
              </a:rPr>
              <a:t>4.	Individuare un tutor accademico (in caso di tirocinio esterno) tra i docenti afferenti al proprio corso di laurea e chiederne la disponibilità.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L’iter di uno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1422400"/>
            <a:ext cx="546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E0000"/>
                </a:solidFill>
                <a:latin typeface="Calibri"/>
              </a:rPr>
              <a:t>AVVIARE UNO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905000"/>
            <a:ext cx="5461000" cy="31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9400" indent="-2794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1.	Lo/La studente/ssa inoltra una proposta di stage.</a:t>
            </a:r>
          </a:p>
          <a:p>
            <a:pPr algn="l" marL="279400" indent="-2794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2.	L’Ufficio Tirocini del DiBEST approva la proposta.</a:t>
            </a:r>
          </a:p>
          <a:p>
            <a:pPr algn="l" marL="279400" indent="-2794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3.	Il/La tutor aziendale/accademico compila il progetto formativo.</a:t>
            </a:r>
          </a:p>
          <a:p>
            <a:pPr algn="l" marL="279400" indent="-2794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4.	Lo/La studente/ssa conferma il progetto formativo.</a:t>
            </a:r>
          </a:p>
          <a:p>
            <a:pPr algn="l" marL="279400" indent="-2794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5.	Il/La tutor accademico conferma il progetto formativo (solo per i tirocini esterni).</a:t>
            </a:r>
          </a:p>
          <a:p>
            <a:pPr algn="l" marL="279400" indent="-2794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6.	L’Ufficio Tirocini del DiBEST conferma il progetto formativo.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5207000"/>
            <a:ext cx="546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E0000"/>
                </a:solidFill>
                <a:latin typeface="Calibri"/>
              </a:rPr>
              <a:t>Lo stato del tirocinio passa da «confermato» ad «avviato» (sempre visibile nella sezione «I miei stage»): solo allora è possibile iniziare le attività di tirocinio.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500" y="1422400"/>
            <a:ext cx="546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E0000"/>
                </a:solidFill>
                <a:latin typeface="Calibri"/>
              </a:rPr>
              <a:t>ALLA FINE DELLO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500" y="1905000"/>
            <a:ext cx="5461000" cy="35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1.	Lo/La studente/ssa invia il registro (compilato durante il periodo di attività) al tutor aziendale/accademico.</a:t>
            </a:r>
          </a:p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2.	Lo/La studente/ssa compila il questionario di valutazione.</a:t>
            </a:r>
          </a:p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3.	Lo/La studente/ssa allega la relazione finale firmata digitalmente dal tutor accademico.</a:t>
            </a:r>
          </a:p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4.	Il/La tutor aziendale/accademico approva il registro delle presenze.</a:t>
            </a:r>
          </a:p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5.	Il/La tutor aziendale/accademico compila il questionario di valutazione.</a:t>
            </a:r>
          </a:p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6.	L’Ufficio Tirocini approva il riconoscimento dei crediti in carriera.</a:t>
            </a:r>
          </a:p>
          <a:p>
            <a:pPr algn="l" marL="279400" indent="-279400">
              <a:spcAft>
                <a:spcPts val="4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7.	Il/La tutor accademico conferma il riconoscimento dei crediti in carriera.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500" y="5778500"/>
            <a:ext cx="5461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E0000"/>
                </a:solidFill>
                <a:latin typeface="Calibri"/>
              </a:rPr>
              <a:t>Il tirocinio è visibile nella carriera in esse3 come «sostenuto».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La Home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71600"/>
            <a:ext cx="1079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Lo/La studente/ssa ha a disposizione, nella pagina «Homepage Stage», un riepilogo di tutte le principali azioni di questo settore. In particolare è presente il seguente menu:</a:t>
            </a:r>
          </a:p>
        </p:txBody>
      </p:sp>
      <p:pic>
        <p:nvPicPr>
          <p:cNvPr id="8" name="Picture 7" descr="s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" y="2432050"/>
            <a:ext cx="2486660" cy="3752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67100" y="2260600"/>
            <a:ext cx="8255000" cy="40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I miei stage</a:t>
            </a:r>
            <a:r>
              <a:rPr sz="1650" b="0">
                <a:solidFill>
                  <a:srgbClr val="000000"/>
                </a:solidFill>
                <a:latin typeface="Calibri"/>
              </a:rPr>
              <a:t>: mostra tutte le domande di stage in stato Confermato, Avviato o Concluso, con la possibilità di accedere ai relativi dettagli.</a:t>
            </a:r>
          </a:p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Ricerca azienda</a:t>
            </a:r>
            <a:r>
              <a:rPr sz="1650" b="0">
                <a:solidFill>
                  <a:srgbClr val="000000"/>
                </a:solidFill>
                <a:latin typeface="Calibri"/>
              </a:rPr>
              <a:t>: mostra tutte le aziende convenzionate con il Dipartimento e/o l’Ateneo.</a:t>
            </a:r>
          </a:p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Ricerca opportunità</a:t>
            </a:r>
            <a:r>
              <a:rPr sz="1650" b="0">
                <a:solidFill>
                  <a:srgbClr val="000000"/>
                </a:solidFill>
                <a:latin typeface="Calibri"/>
              </a:rPr>
              <a:t>: mostra le opportunità inserite da aziende/docenti </a:t>
            </a:r>
            <a:r>
              <a:rPr sz="1650" b="1">
                <a:solidFill>
                  <a:srgbClr val="BE0000"/>
                </a:solidFill>
                <a:latin typeface="Calibri"/>
              </a:rPr>
              <a:t>(non utilizzato dal DiBEST)</a:t>
            </a:r>
            <a:r>
              <a:rPr sz="165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Le mie opportunità salvate</a:t>
            </a:r>
            <a:r>
              <a:rPr sz="1650" b="0">
                <a:solidFill>
                  <a:srgbClr val="000000"/>
                </a:solidFill>
                <a:latin typeface="Calibri"/>
              </a:rPr>
              <a:t>: mostra le opportunità salvate </a:t>
            </a:r>
            <a:r>
              <a:rPr sz="1650" b="1">
                <a:solidFill>
                  <a:srgbClr val="BE0000"/>
                </a:solidFill>
                <a:latin typeface="Calibri"/>
              </a:rPr>
              <a:t>(non utilizzato dal DiBEST)</a:t>
            </a:r>
            <a:r>
              <a:rPr sz="165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Le mie candidature</a:t>
            </a:r>
            <a:r>
              <a:rPr sz="1650" b="0">
                <a:solidFill>
                  <a:srgbClr val="000000"/>
                </a:solidFill>
                <a:latin typeface="Calibri"/>
              </a:rPr>
              <a:t>: mostra le candidature a una o più opportunità </a:t>
            </a:r>
            <a:r>
              <a:rPr sz="1650" b="1">
                <a:solidFill>
                  <a:srgbClr val="BE0000"/>
                </a:solidFill>
                <a:latin typeface="Calibri"/>
              </a:rPr>
              <a:t>(non utilizzato dal DiBEST)</a:t>
            </a:r>
            <a:r>
              <a:rPr sz="165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Le mie ricerche salvate</a:t>
            </a:r>
            <a:r>
              <a:rPr sz="1650" b="0">
                <a:solidFill>
                  <a:srgbClr val="000000"/>
                </a:solidFill>
                <a:latin typeface="Calibri"/>
              </a:rPr>
              <a:t>: permette di accedere alle ricerche salvate.</a:t>
            </a:r>
          </a:p>
          <a:p>
            <a:pPr algn="l" marL="228600" indent="-228600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•	</a:t>
            </a:r>
            <a:r>
              <a:rPr sz="1650" b="1">
                <a:solidFill>
                  <a:srgbClr val="000000"/>
                </a:solidFill>
                <a:latin typeface="Calibri"/>
              </a:rPr>
              <a:t>Proposte di stage</a:t>
            </a:r>
            <a:r>
              <a:rPr sz="1650" b="0">
                <a:solidFill>
                  <a:srgbClr val="000000"/>
                </a:solidFill>
                <a:latin typeface="Calibri"/>
              </a:rPr>
              <a:t>: permette di inoltrare una proposta di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Cercare un’azienda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3843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È possibile cercare un’azienda già convenzionata cliccando sul pulsante «Ricerca azienda».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5687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Successivamente cliccare sul pulsante «Cerca», senza inserire ulteriori parametri:</a:t>
            </a:r>
          </a:p>
        </p:txBody>
      </p:sp>
      <p:pic>
        <p:nvPicPr>
          <p:cNvPr id="9" name="Picture 8" descr="s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1847850"/>
            <a:ext cx="2514600" cy="1343660"/>
          </a:xfrm>
          <a:prstGeom prst="rect">
            <a:avLst/>
          </a:prstGeom>
        </p:spPr>
      </p:pic>
      <p:pic>
        <p:nvPicPr>
          <p:cNvPr id="10" name="Picture 9" descr="s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080" y="4220210"/>
            <a:ext cx="9221470" cy="226186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124960" y="2595880"/>
            <a:ext cx="1635760" cy="55753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54210" y="5952490"/>
            <a:ext cx="1061720" cy="36195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Cercare un’azienda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651000"/>
            <a:ext cx="1054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Il sistema restituirà l’elenco completo delle aziende convenzionate con il DiBEST e/o con l’Ateneo:</a:t>
            </a:r>
          </a:p>
        </p:txBody>
      </p:sp>
      <p:pic>
        <p:nvPicPr>
          <p:cNvPr id="8" name="Picture 7" descr="s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970" y="2245360"/>
            <a:ext cx="7988300" cy="3460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5867400"/>
            <a:ext cx="1054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È possibile visualizzare il dettaglio di un’azienda cliccando sul suo nome.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Avviare uno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447800"/>
            <a:ext cx="635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Per avviare uno stage cliccare sul pulsante «Proposte di stage».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29464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Nel caso di studenti con più carriere (studenti magistrali, studenti immatricolati dopo una rinuncia, ecc.) il sistema chiederà per quale carriera inoltrare la proposta di stage.</a:t>
            </a:r>
          </a:p>
        </p:txBody>
      </p:sp>
      <p:pic>
        <p:nvPicPr>
          <p:cNvPr id="9" name="Picture 8" descr="s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980" y="1410970"/>
            <a:ext cx="2485390" cy="1174750"/>
          </a:xfrm>
          <a:prstGeom prst="rect">
            <a:avLst/>
          </a:prstGeom>
        </p:spPr>
      </p:pic>
      <p:pic>
        <p:nvPicPr>
          <p:cNvPr id="10" name="Picture 9" descr="s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830" y="4000500"/>
            <a:ext cx="9061450" cy="232282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22209" y="1903730"/>
            <a:ext cx="1637030" cy="55880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44190" y="4701540"/>
            <a:ext cx="2113280" cy="67818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Avviare uno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1219200"/>
            <a:ext cx="762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Nella schermata successiva inserire:</a:t>
            </a:r>
          </a:p>
        </p:txBody>
      </p:sp>
      <p:pic>
        <p:nvPicPr>
          <p:cNvPr id="8" name="Picture 7" descr="s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" y="1854200"/>
            <a:ext cx="3382010" cy="4047490"/>
          </a:xfrm>
          <a:prstGeom prst="rect">
            <a:avLst/>
          </a:prstGeom>
        </p:spPr>
      </p:pic>
      <p:pic>
        <p:nvPicPr>
          <p:cNvPr id="9" name="Picture 8" descr="s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370" y="5377180"/>
            <a:ext cx="2658109" cy="95377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93420" y="1868170"/>
            <a:ext cx="1292860" cy="44069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93900" y="2066289"/>
            <a:ext cx="2889250" cy="46990"/>
          </a:xfrm>
          <a:prstGeom prst="rect">
            <a:avLst/>
          </a:prstGeom>
          <a:solidFill>
            <a:srgbClr val="B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780" y="2717800"/>
            <a:ext cx="1292859" cy="44068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53260" y="2917190"/>
            <a:ext cx="2889250" cy="46990"/>
          </a:xfrm>
          <a:prstGeom prst="rect">
            <a:avLst/>
          </a:prstGeom>
          <a:solidFill>
            <a:srgbClr val="B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9120" y="3511550"/>
            <a:ext cx="1292860" cy="40005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9600" y="3689350"/>
            <a:ext cx="2889250" cy="48260"/>
          </a:xfrm>
          <a:prstGeom prst="rect">
            <a:avLst/>
          </a:prstGeom>
          <a:solidFill>
            <a:srgbClr val="B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2300" y="4787900"/>
            <a:ext cx="1292860" cy="40132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22780" y="4966970"/>
            <a:ext cx="2889249" cy="46989"/>
          </a:xfrm>
          <a:prstGeom prst="rect">
            <a:avLst/>
          </a:prstGeom>
          <a:solidFill>
            <a:srgbClr val="B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1790" y="5744210"/>
            <a:ext cx="1292859" cy="40005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79940" y="5934710"/>
            <a:ext cx="831850" cy="48260"/>
          </a:xfrm>
          <a:prstGeom prst="rect">
            <a:avLst/>
          </a:prstGeom>
          <a:solidFill>
            <a:srgbClr val="B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8400" y="1930400"/>
            <a:ext cx="685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L’azienda presso cui verrà svolto il tirocinio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8400" y="2781300"/>
            <a:ext cx="685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La sede dell’azienda (o il laboratorio UNICAL, in caso di tirocinio interno)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8400" y="3568700"/>
            <a:ext cx="685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I contatti del tutor aziendale/accademico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8400" y="4838700"/>
            <a:ext cx="685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Le date indicative di inizio e fine tirocinio e le attività che si svolgeranno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8400" y="5778500"/>
            <a:ext cx="431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Infine, cliccare sul pulsante «Salva»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Avviare uno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371600"/>
            <a:ext cx="10668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La richiesta di tirocinio appena inoltrata viene confermata dall’Ufficio Tirocini del Dipartimento. Una volta confermata, il/la tutor aziendale/accademico compila il progetto formativo.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Solo dopo la compilazione del progetto formativo da parte del/della tutor, la domanda di tirocinio sarà visibile nella sezione «I miei stage».</a:t>
            </a:r>
          </a:p>
        </p:txBody>
      </p:sp>
      <p:pic>
        <p:nvPicPr>
          <p:cNvPr id="8" name="Picture 7" descr="s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" y="2843530"/>
            <a:ext cx="11694160" cy="3096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Confermare il progetto formativo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3716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Lo/La studente/ssa deve ora confermare il progetto formativo compilato dall’azienda (il pallino sotto la voce «Progetto formativo» è di colore verde).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00000"/>
                </a:solidFill>
                <a:latin typeface="Calibri"/>
              </a:rPr>
              <a:t>Cliccare quindi sulla voce «vedi» in corrispondenza del progetto formativo:</a:t>
            </a:r>
          </a:p>
        </p:txBody>
      </p:sp>
      <p:pic>
        <p:nvPicPr>
          <p:cNvPr id="8" name="Picture 7" descr="s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" y="2843530"/>
            <a:ext cx="11694160" cy="30962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091170" y="4342130"/>
            <a:ext cx="737870" cy="27559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54500" y="317500"/>
            <a:ext cx="75819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Confermare il progetto formativo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3716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Scorrere fino alla fine della schermata successiva e inserire:</a:t>
            </a:r>
          </a:p>
        </p:txBody>
      </p:sp>
      <p:pic>
        <p:nvPicPr>
          <p:cNvPr id="8" name="Picture 7" descr="s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4730"/>
            <a:ext cx="12192000" cy="3884929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130790" y="5648960"/>
            <a:ext cx="1847850" cy="27686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6520" y="5001260"/>
            <a:ext cx="1038859" cy="31622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0" y="2819400"/>
            <a:ext cx="444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0000"/>
                </a:solidFill>
                <a:latin typeface="Calibri"/>
              </a:rPr>
              <a:t>Il tutor accademico: da scegliere tra i docenti del corso di laurea, necessario per l’iter del tirocinio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0200" y="32512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0000"/>
                </a:solidFill>
                <a:latin typeface="Calibri"/>
              </a:rPr>
              <a:t>Spuntare la casella corrispondente al superamento del corso base sulla sicurezza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1300" y="3962400"/>
            <a:ext cx="4191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0000"/>
                </a:solidFill>
                <a:latin typeface="Calibri"/>
              </a:rPr>
              <a:t>Inserire l’ente presso cui è stato superato il corso (ad es. Università della Calabria)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8900" y="5041900"/>
            <a:ext cx="508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0000"/>
                </a:solidFill>
                <a:latin typeface="Calibri"/>
              </a:rPr>
              <a:t>Inserire la data di superamento del corso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8300" y="5880100"/>
            <a:ext cx="508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0000"/>
                </a:solidFill>
                <a:latin typeface="Calibri"/>
              </a:rPr>
              <a:t>Infine, cliccare su «Accetta il progetto formativo»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Iniziare 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714500"/>
            <a:ext cx="11049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Una volta acquisite tutte le conferme del progetto formativo, lo «stato» del tirocinio passerà ad «avviato». Sarà ora possibile iniziare lo stage nel laboratorio UNICAL o nell’azienda esterna.</a:t>
            </a:r>
          </a:p>
        </p:txBody>
      </p:sp>
      <p:pic>
        <p:nvPicPr>
          <p:cNvPr id="8" name="Picture 7" descr="s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" y="3119120"/>
            <a:ext cx="12192000" cy="15519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948180" y="4424680"/>
            <a:ext cx="666750" cy="29210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Durante 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714500"/>
            <a:ext cx="11049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Durante lo stage è necessario compilare, giorno per giorno, il registro delle presenze.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Cliccare quindi sul pulsante «vedi» in corrispondenza della colonna «Periodi»:</a:t>
            </a:r>
          </a:p>
        </p:txBody>
      </p:sp>
      <p:pic>
        <p:nvPicPr>
          <p:cNvPr id="8" name="Picture 7" descr="s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" y="3119120"/>
            <a:ext cx="12192000" cy="15519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1082020" y="4387850"/>
            <a:ext cx="668020" cy="29210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Durante 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2032000"/>
            <a:ext cx="1104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Successivamente cliccare sull’icona del «libro» sotto la voce «Azioni»:</a:t>
            </a:r>
          </a:p>
        </p:txBody>
      </p:sp>
      <p:pic>
        <p:nvPicPr>
          <p:cNvPr id="8" name="Picture 7" descr="s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3279"/>
            <a:ext cx="12192000" cy="21031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0726420" y="5115560"/>
            <a:ext cx="429259" cy="29336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430" y="5115560"/>
            <a:ext cx="3575050" cy="293369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Durante 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"/>
            <a:ext cx="9398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Inserire l’orario di entrata, l’orario di uscita e l’attività svolta, poi cliccare sul pulsante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625600"/>
            <a:ext cx="11049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Inoltre, nella parte destra, in corrispondenza del giorno sono presenti 3 icone: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21844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Per aggiungere un nuovo orario nella stessa giornata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26797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Per duplicare dalla riga precedente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3175000"/>
            <a:ext cx="889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Per eliminare le ore inserite</a:t>
            </a:r>
          </a:p>
        </p:txBody>
      </p:sp>
      <p:pic>
        <p:nvPicPr>
          <p:cNvPr id="12" name="Picture 11" descr="s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" y="3644900"/>
            <a:ext cx="12192000" cy="2504440"/>
          </a:xfrm>
          <a:prstGeom prst="rect">
            <a:avLst/>
          </a:prstGeom>
        </p:spPr>
      </p:pic>
      <p:pic>
        <p:nvPicPr>
          <p:cNvPr id="13" name="Picture 12" descr="s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240" y="1182370"/>
            <a:ext cx="876300" cy="391160"/>
          </a:xfrm>
          <a:prstGeom prst="rect">
            <a:avLst/>
          </a:prstGeom>
        </p:spPr>
      </p:pic>
      <p:pic>
        <p:nvPicPr>
          <p:cNvPr id="14" name="Picture 13" descr="s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50440"/>
            <a:ext cx="251459" cy="238760"/>
          </a:xfrm>
          <a:prstGeom prst="rect">
            <a:avLst/>
          </a:prstGeom>
        </p:spPr>
      </p:pic>
      <p:pic>
        <p:nvPicPr>
          <p:cNvPr id="15" name="Picture 14" descr="s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70" y="2639060"/>
            <a:ext cx="334010" cy="347979"/>
          </a:xfrm>
          <a:prstGeom prst="rect">
            <a:avLst/>
          </a:prstGeom>
        </p:spPr>
      </p:pic>
      <p:pic>
        <p:nvPicPr>
          <p:cNvPr id="16" name="Picture 15" descr="s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3155950"/>
            <a:ext cx="332740" cy="3759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161780" y="5205730"/>
            <a:ext cx="1564640" cy="94361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Alla fine dello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574800"/>
            <a:ext cx="1016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Calibri"/>
              </a:rPr>
              <a:t>Terminato lo stage è necessario: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30500"/>
            <a:ext cx="1092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57200" indent="-457200"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1.	Inviare il registro al docente per l’approvazione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517900"/>
            <a:ext cx="1092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57200" indent="-457200"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2.	Compilare il questionario di valutazione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305300"/>
            <a:ext cx="1092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57200" indent="-457200"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3.	Allegare la relazione finale firmata digitalmente dal tutor accademico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Alla fine dello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14732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Per </a:t>
            </a:r>
            <a:r>
              <a:rPr sz="1900" b="1">
                <a:solidFill>
                  <a:srgbClr val="000000"/>
                </a:solidFill>
                <a:latin typeface="Calibri"/>
              </a:rPr>
              <a:t>inviare il registro</a:t>
            </a:r>
            <a:r>
              <a:rPr sz="1900" b="0">
                <a:solidFill>
                  <a:srgbClr val="000000"/>
                </a:solidFill>
                <a:latin typeface="Calibri"/>
              </a:rPr>
              <a:t>, cliccare sul pulsante «vedi» sotto la voce «Periodi»: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41910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Successivamente cliccare sul pulsante «Invia»:</a:t>
            </a:r>
          </a:p>
        </p:txBody>
      </p:sp>
      <p:pic>
        <p:nvPicPr>
          <p:cNvPr id="9" name="Picture 8" descr="s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4716780"/>
            <a:ext cx="10679430" cy="1518920"/>
          </a:xfrm>
          <a:prstGeom prst="rect">
            <a:avLst/>
          </a:prstGeom>
        </p:spPr>
      </p:pic>
      <p:pic>
        <p:nvPicPr>
          <p:cNvPr id="10" name="Picture 9" descr="s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660" y="2068830"/>
            <a:ext cx="10679430" cy="136017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0332720" y="3177540"/>
            <a:ext cx="429259" cy="29337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19360" y="5815330"/>
            <a:ext cx="295910" cy="29845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Alla fine dello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1473200"/>
            <a:ext cx="1092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Per </a:t>
            </a:r>
            <a:r>
              <a:rPr sz="1900" b="1">
                <a:solidFill>
                  <a:srgbClr val="000000"/>
                </a:solidFill>
                <a:latin typeface="Calibri"/>
              </a:rPr>
              <a:t>compilare il questionario di valutazione</a:t>
            </a:r>
            <a:r>
              <a:rPr sz="1900" b="0">
                <a:solidFill>
                  <a:srgbClr val="000000"/>
                </a:solidFill>
                <a:latin typeface="Calibri"/>
              </a:rPr>
              <a:t>, cliccare sul pulsante «vedi» sotto la voce «Valutazione»: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" y="41910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Successivamente cliccare sul nome del questionario:</a:t>
            </a:r>
          </a:p>
        </p:txBody>
      </p:sp>
      <p:pic>
        <p:nvPicPr>
          <p:cNvPr id="9" name="Picture 8" descr="s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4678680"/>
            <a:ext cx="10679430" cy="1329690"/>
          </a:xfrm>
          <a:prstGeom prst="rect">
            <a:avLst/>
          </a:prstGeom>
        </p:spPr>
      </p:pic>
      <p:pic>
        <p:nvPicPr>
          <p:cNvPr id="10" name="Picture 9" descr="s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80" y="2312670"/>
            <a:ext cx="10679430" cy="13589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9646920" y="3434079"/>
            <a:ext cx="429259" cy="293370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740" y="5194300"/>
            <a:ext cx="3235960" cy="49148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Alla fine dello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10922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Per </a:t>
            </a:r>
            <a:r>
              <a:rPr sz="1900" b="1">
                <a:solidFill>
                  <a:srgbClr val="000000"/>
                </a:solidFill>
                <a:latin typeface="Calibri"/>
              </a:rPr>
              <a:t>allegare la relazione finale</a:t>
            </a:r>
            <a:r>
              <a:rPr sz="1900" b="0">
                <a:solidFill>
                  <a:srgbClr val="000000"/>
                </a:solidFill>
                <a:latin typeface="Calibri"/>
              </a:rPr>
              <a:t>, cliccare sul pulsante «vedi» sotto la voce «Allegati»:</a:t>
            </a:r>
          </a:p>
        </p:txBody>
      </p:sp>
      <p:pic>
        <p:nvPicPr>
          <p:cNvPr id="8" name="Picture 7" descr="s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1553210"/>
            <a:ext cx="10679430" cy="1360170"/>
          </a:xfrm>
          <a:prstGeom prst="rect">
            <a:avLst/>
          </a:prstGeom>
        </p:spPr>
      </p:pic>
      <p:pic>
        <p:nvPicPr>
          <p:cNvPr id="9" name="Picture 8" descr="s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370" y="3683000"/>
            <a:ext cx="3602989" cy="28168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686800" y="2673350"/>
            <a:ext cx="429259" cy="29336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33560" y="5217160"/>
            <a:ext cx="2590800" cy="29336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18190" y="5949950"/>
            <a:ext cx="923289" cy="485139"/>
          </a:xfrm>
          <a:prstGeom prst="ellipse">
            <a:avLst/>
          </a:prstGeom>
          <a:noFill/>
          <a:ln w="19050">
            <a:solidFill>
              <a:srgbClr val="C6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32766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Successivamente cliccare sul pulsante</a:t>
            </a:r>
          </a:p>
        </p:txBody>
      </p:sp>
      <p:pic>
        <p:nvPicPr>
          <p:cNvPr id="14" name="Picture 13" descr="s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3200400"/>
            <a:ext cx="736600" cy="520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43500" y="3276600"/>
            <a:ext cx="558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Calibri"/>
              </a:rPr>
              <a:t>e, nel riquadro successivo, inserire: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700" y="3810000"/>
            <a:ext cx="7620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	</a:t>
            </a:r>
            <a:r>
              <a:rPr sz="1700" b="1">
                <a:solidFill>
                  <a:srgbClr val="000000"/>
                </a:solidFill>
                <a:latin typeface="Calibri"/>
              </a:rPr>
              <a:t>Titolo</a:t>
            </a:r>
            <a:r>
              <a:rPr sz="1700" b="0">
                <a:solidFill>
                  <a:srgbClr val="000000"/>
                </a:solidFill>
                <a:latin typeface="Calibri"/>
              </a:rPr>
              <a:t> e </a:t>
            </a:r>
            <a:r>
              <a:rPr sz="1700" b="1">
                <a:solidFill>
                  <a:srgbClr val="000000"/>
                </a:solidFill>
                <a:latin typeface="Calibri"/>
              </a:rPr>
              <a:t>descrizione</a:t>
            </a:r>
          </a:p>
          <a:p>
            <a:pPr algn="l" marL="228600" indent="-228600"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	</a:t>
            </a:r>
            <a:r>
              <a:rPr sz="1700" b="1">
                <a:solidFill>
                  <a:srgbClr val="000000"/>
                </a:solidFill>
                <a:latin typeface="Calibri"/>
              </a:rPr>
              <a:t>Tipologia allegato</a:t>
            </a:r>
            <a:r>
              <a:rPr sz="1700" b="0">
                <a:solidFill>
                  <a:srgbClr val="000000"/>
                </a:solidFill>
                <a:latin typeface="Calibri"/>
              </a:rPr>
              <a:t>: selezionare «Relazione finale». </a:t>
            </a:r>
            <a:r>
              <a:rPr sz="1700" b="1">
                <a:solidFill>
                  <a:srgbClr val="BE0000"/>
                </a:solidFill>
                <a:latin typeface="Calibri"/>
              </a:rPr>
              <a:t>Attenzione!</a:t>
            </a:r>
            <a:r>
              <a:rPr sz="1700" b="0">
                <a:solidFill>
                  <a:srgbClr val="000000"/>
                </a:solidFill>
                <a:latin typeface="Calibri"/>
              </a:rPr>
              <a:t> La scelta della tipologia è determinante per il corretto iter di fine stage.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" y="5588000"/>
            <a:ext cx="749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Infine selezionare il file dal proprio PC e cliccare su «Carica». </a:t>
            </a:r>
            <a:r>
              <a:rPr sz="1700" b="1">
                <a:solidFill>
                  <a:srgbClr val="000000"/>
                </a:solidFill>
                <a:latin typeface="Calibri"/>
              </a:rPr>
              <a:t>Il file deve essere in formato PDF firmato digitalmente dal tutor accademico.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Riconoscimento CFU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422400"/>
            <a:ext cx="10922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Calibri"/>
              </a:rPr>
              <a:t>Ho terminato tutti i passaggi: quando troverò i crediti di tirocinio in carriera?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800" y="2730500"/>
            <a:ext cx="10922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Una volta terminati tutti i passaggi, per il riconoscimento dei CFU in carriera sono necessari i seguenti passi: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" y="3746500"/>
            <a:ext cx="11049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81000" indent="-381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1.	Il/La </a:t>
            </a:r>
            <a:r>
              <a:rPr sz="2100" b="1">
                <a:solidFill>
                  <a:srgbClr val="000000"/>
                </a:solidFill>
                <a:latin typeface="Calibri"/>
              </a:rPr>
              <a:t>tutor aziendale/accademico</a:t>
            </a:r>
            <a:r>
              <a:rPr sz="2100" b="0">
                <a:solidFill>
                  <a:srgbClr val="000000"/>
                </a:solidFill>
                <a:latin typeface="Calibri"/>
              </a:rPr>
              <a:t> approva il registro delle presenze;</a:t>
            </a:r>
          </a:p>
          <a:p>
            <a:pPr algn="l" marL="381000" indent="-381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2.	Il/La </a:t>
            </a:r>
            <a:r>
              <a:rPr sz="2100" b="1">
                <a:solidFill>
                  <a:srgbClr val="000000"/>
                </a:solidFill>
                <a:latin typeface="Calibri"/>
              </a:rPr>
              <a:t>tutor aziendale/accademico</a:t>
            </a:r>
            <a:r>
              <a:rPr sz="2100" b="0">
                <a:solidFill>
                  <a:srgbClr val="000000"/>
                </a:solidFill>
                <a:latin typeface="Calibri"/>
              </a:rPr>
              <a:t> compila il questionario di valutazione;</a:t>
            </a:r>
          </a:p>
          <a:p>
            <a:pPr algn="l" marL="381000" indent="-381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3.	L’</a:t>
            </a:r>
            <a:r>
              <a:rPr sz="2100" b="1">
                <a:solidFill>
                  <a:srgbClr val="000000"/>
                </a:solidFill>
                <a:latin typeface="Calibri"/>
              </a:rPr>
              <a:t>Ufficio Tirocini</a:t>
            </a:r>
            <a:r>
              <a:rPr sz="2100" b="0">
                <a:solidFill>
                  <a:srgbClr val="000000"/>
                </a:solidFill>
                <a:latin typeface="Calibri"/>
              </a:rPr>
              <a:t> del Dipartimento autorizza il riconoscimento dei crediti in carriera;</a:t>
            </a:r>
          </a:p>
          <a:p>
            <a:pPr algn="l" marL="381000" indent="-381000">
              <a:spcAft>
                <a:spcPts val="1000"/>
              </a:spcAft>
            </a:pPr>
            <a:r>
              <a:rPr sz="2100" b="0">
                <a:solidFill>
                  <a:srgbClr val="000000"/>
                </a:solidFill>
                <a:latin typeface="Calibri"/>
              </a:rPr>
              <a:t>4.	Il/La </a:t>
            </a:r>
            <a:r>
              <a:rPr sz="2100" b="1">
                <a:solidFill>
                  <a:srgbClr val="000000"/>
                </a:solidFill>
                <a:latin typeface="Calibri"/>
              </a:rPr>
              <a:t>tutor accademico</a:t>
            </a:r>
            <a:r>
              <a:rPr sz="2100" b="0">
                <a:solidFill>
                  <a:srgbClr val="000000"/>
                </a:solidFill>
                <a:latin typeface="Calibri"/>
              </a:rPr>
              <a:t> conferma il riconoscimento dei crediti in carriera.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39700"/>
            <a:ext cx="4181475" cy="8153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17500"/>
            <a:ext cx="6121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UFFICIO TIROCINI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solidFill>
            <a:srgbClr val="C6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18909"/>
            <a:ext cx="12192000" cy="339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GUIDA OPERATIVA TIROCINI CURRICULARI – TSP 2.0</a:t>
            </a:r>
          </a:p>
        </p:txBody>
      </p:sp>
      <p:pic>
        <p:nvPicPr>
          <p:cNvPr id="7" name="Picture 6" descr="ico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612900"/>
            <a:ext cx="965200" cy="8828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1200" y="1866900"/>
            <a:ext cx="825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Calibri"/>
              </a:rPr>
              <a:t>Cubo 6C - Ponte Carrabile</a:t>
            </a:r>
          </a:p>
        </p:txBody>
      </p:sp>
      <p:pic>
        <p:nvPicPr>
          <p:cNvPr id="9" name="Picture 8" descr="ic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0" y="2844800"/>
            <a:ext cx="965200" cy="1000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51200" y="3098800"/>
            <a:ext cx="825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467886"/>
                </a:solidFill>
                <a:latin typeface="Calibri"/>
              </a:rPr>
              <a:t>tirocini.dibest@unical.it</a:t>
            </a:r>
          </a:p>
        </p:txBody>
      </p:sp>
      <p:pic>
        <p:nvPicPr>
          <p:cNvPr id="11" name="Picture 10" descr="ico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3987800"/>
            <a:ext cx="965200" cy="8239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51200" y="4241800"/>
            <a:ext cx="825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467886"/>
                </a:solidFill>
                <a:latin typeface="Calibri"/>
              </a:rPr>
              <a:t>http://ticket.unical.it/tickets/new/13/435/</a:t>
            </a:r>
          </a:p>
        </p:txBody>
      </p:sp>
      <p:pic>
        <p:nvPicPr>
          <p:cNvPr id="13" name="Picture 12" descr="ico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5105400"/>
            <a:ext cx="965200" cy="9769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51200" y="5359400"/>
            <a:ext cx="8255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467886"/>
                </a:solidFill>
                <a:latin typeface="Calibri"/>
              </a:rPr>
              <a:t>emanuele.dodaro@servizimicrosoft.unical.it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