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1905000"/>
            <a:ext cx="4181475" cy="815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937000"/>
            <a:ext cx="7560309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Calibri"/>
              </a:rPr>
              <a:t>GUIDA UTILIZZO TSP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7560309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Calibri"/>
              </a:rPr>
              <a:t>Enti ospitanti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15000"/>
            <a:ext cx="756030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Link di accesso:</a:t>
            </a:r>
            <a:r>
              <a:rPr sz="1400" b="0">
                <a:solidFill>
                  <a:srgbClr val="000000"/>
                </a:solidFill>
                <a:latin typeface="Calibri"/>
              </a:rPr>
              <a:t> </a:t>
            </a:r>
            <a:r>
              <a:rPr sz="1400" b="1">
                <a:solidFill>
                  <a:srgbClr val="467886"/>
                </a:solidFill>
                <a:latin typeface="Calibri"/>
              </a:rPr>
              <a:t>https://unical.tsp.esse3.cineca.it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Link di accesso:</a:t>
            </a:r>
            <a:r>
              <a:rPr sz="1200" b="0">
                <a:solidFill>
                  <a:srgbClr val="000000"/>
                </a:solidFill>
                <a:latin typeface="Calibri"/>
              </a:rPr>
              <a:t> </a:t>
            </a:r>
            <a:r>
              <a:rPr sz="1200" b="1">
                <a:solidFill>
                  <a:srgbClr val="467886"/>
                </a:solidFill>
                <a:latin typeface="Calibri"/>
              </a:rPr>
              <a:t>https://unical.tsp.esse3.cineca.it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3970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1.  Richiesta accredito azienda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4511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Sulla home, cliccare su «Richiesta accredito».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892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Successivamente, cliccare su «Registra».</a:t>
            </a:r>
          </a:p>
        </p:txBody>
      </p:sp>
      <p:pic>
        <p:nvPicPr>
          <p:cNvPr id="9" name="Picture 8" descr="a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2757170"/>
            <a:ext cx="6013450" cy="27152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2757170"/>
            <a:ext cx="6013450" cy="271526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6197600"/>
            <a:ext cx="6032500" cy="270129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9140" y="6197600"/>
            <a:ext cx="6032500" cy="270129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Procedere con l’inserimento dei dati richiesti nelle varie pagine, prestando attenzione a selezionare la corretta </a:t>
            </a:r>
            <a:r>
              <a:rPr sz="1200" b="1">
                <a:solidFill>
                  <a:srgbClr val="000000"/>
                </a:solidFill>
                <a:latin typeface="Calibri"/>
              </a:rPr>
              <a:t>Area disciplinare</a:t>
            </a:r>
            <a:r>
              <a:rPr sz="1200" b="0">
                <a:solidFill>
                  <a:srgbClr val="000000"/>
                </a:solidFill>
                <a:latin typeface="Calibri"/>
              </a:rPr>
              <a:t> (corrispondente al Dipartimento con cui ci si vuole convenzionare; qualora l’interesse fosse su più di tre Aree, selezionare tutto l’Ateneo).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574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Calibri"/>
              </a:rPr>
              <a:t>N.B.</a:t>
            </a:r>
            <a:r>
              <a:rPr sz="1200" b="0">
                <a:solidFill>
                  <a:srgbClr val="000000"/>
                </a:solidFill>
                <a:latin typeface="Calibri"/>
              </a:rPr>
              <a:t> Inserire negli allegati la Manifestazione di interesse compilata secondo l’apposito modello.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9911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Al termine del processo di registrazione conservare username e password forniti dal sistema poiché, una volta che l’Ufficio preposto avrà approvato la richiesta, </a:t>
            </a:r>
            <a:r>
              <a:rPr sz="1200" b="1">
                <a:solidFill>
                  <a:srgbClr val="000000"/>
                </a:solidFill>
                <a:latin typeface="Calibri"/>
              </a:rPr>
              <a:t>SERVIRANNO PER ACCEDERE</a:t>
            </a:r>
            <a:r>
              <a:rPr sz="12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473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Se la richiesta di accredito è accettata dall’Ateneo, si potrà accedere al sistema e procedere con l’istituzione di una o più convenzioni, la pubblicazione delle opportunità di tirocinio e l’avvio del tirocinio con studentesse e studenti.</a:t>
            </a:r>
          </a:p>
        </p:txBody>
      </p:sp>
      <p:pic>
        <p:nvPicPr>
          <p:cNvPr id="9" name="Picture 8" descr="a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878330"/>
            <a:ext cx="6007100" cy="26860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1878330"/>
            <a:ext cx="6007100" cy="268604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2.  Stipula e istituzione di una convenzione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5494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Fare il login con le proprie credenziali (le credenziali sono personali e legate al singolo utente/contatto; in qualsiasi momento può essere aggiunto un nuovo contatto, ad es. un tutor).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3340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Apparirà questa schermata:</a:t>
            </a:r>
          </a:p>
        </p:txBody>
      </p:sp>
      <p:pic>
        <p:nvPicPr>
          <p:cNvPr id="8" name="Picture 7" descr="a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024380"/>
            <a:ext cx="6057900" cy="28955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0090" y="2024380"/>
            <a:ext cx="6057900" cy="289559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5636260"/>
            <a:ext cx="5999480" cy="26085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9140" y="5636260"/>
            <a:ext cx="5999480" cy="260858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Cliccare su «Elenco convenzioni aziendali».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2545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Quindi sul riquadro con indicato il segno + «Proponi nuova convenzione».</a:t>
            </a:r>
          </a:p>
        </p:txBody>
      </p:sp>
      <p:pic>
        <p:nvPicPr>
          <p:cNvPr id="7" name="Picture 6" descr="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499870"/>
            <a:ext cx="6019800" cy="26022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9140" y="1499870"/>
            <a:ext cx="6019800" cy="260223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4845050"/>
            <a:ext cx="5991860" cy="26098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4845050"/>
            <a:ext cx="5991860" cy="26098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Compilare i campi richiesti e seguire la procedura guidata, selezionando </a:t>
            </a:r>
            <a:r>
              <a:rPr sz="1200" b="1">
                <a:solidFill>
                  <a:srgbClr val="000000"/>
                </a:solidFill>
                <a:latin typeface="Calibri"/>
              </a:rPr>
              <a:t>UNA SOLA area disciplinare</a:t>
            </a:r>
            <a:r>
              <a:rPr sz="1200" b="0">
                <a:solidFill>
                  <a:srgbClr val="000000"/>
                </a:solidFill>
                <a:latin typeface="Calibri"/>
              </a:rPr>
              <a:t> con cui ci si vuole convenzionare.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4450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Nel caso si vogliano proporre convenzioni con più Aree disciplinari, è necessario proporre più convenzioni (una per ogni Area).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2070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Quando l’Ufficio d’Ateneo accoglierà la proposta, l’ente riceverà il file della convenzione all’indirizzo PEC, lo firmerà digitalmente e dovrà effettuarne l’upload in piattaforma, nella sezione «Allegati della convenzione».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92964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 questo punto, attendere che l’Ateneo passi la convenzione allo stato «Istituita». Da quel momento sarà possibile inserire opportunità di tirocinio o avviare direttamente uno stage con una studentessa/uno studente.</a:t>
            </a:r>
          </a:p>
        </p:txBody>
      </p:sp>
      <p:pic>
        <p:nvPicPr>
          <p:cNvPr id="9" name="Picture 8" descr="a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689100"/>
            <a:ext cx="6005830" cy="26098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1689100"/>
            <a:ext cx="6005830" cy="26098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6183630"/>
            <a:ext cx="6026150" cy="26936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9140" y="6183630"/>
            <a:ext cx="6026150" cy="269367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3.  Inserimento di un’opportunità di tirocinio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5494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Opzione da scegliere se l’ente ospitante non conosce già il nome del tirocinante e vuole rendere visibile un’opportunità di tirocinio alla quale gli studenti potranno candidarsi in autonomia.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3241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Accedere alla maschera «Opportunità».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6642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Inserire una nuova opportunità cliccando sul riquadro con indicato il segno +.</a:t>
            </a:r>
          </a:p>
        </p:txBody>
      </p:sp>
      <p:pic>
        <p:nvPicPr>
          <p:cNvPr id="9" name="Picture 8" descr="a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2625090"/>
            <a:ext cx="6019800" cy="26085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2625090"/>
            <a:ext cx="6019800" cy="260858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5969000"/>
            <a:ext cx="5999480" cy="2609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9140" y="5969000"/>
            <a:ext cx="5999480" cy="26098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Successivamente, cliccare su «Gestione opportunità».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314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Inserire le informazioni richieste, rileggere le caratteristiche dell’opportunità e cliccare su «Salva» e «Pubblica».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65659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 seguito all’approvazione dell’opportunità da parte dell’Ufficio d’Ateneo preposto, studentesse e studenti potranno candidarsi all’opportunità inserita.</a:t>
            </a:r>
          </a:p>
        </p:txBody>
      </p:sp>
      <p:pic>
        <p:nvPicPr>
          <p:cNvPr id="8" name="Picture 7" descr="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" y="1209040"/>
            <a:ext cx="5104130" cy="16738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28090" y="1209040"/>
            <a:ext cx="5104130" cy="167386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810000"/>
            <a:ext cx="6012180" cy="26098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9140" y="3810000"/>
            <a:ext cx="6012180" cy="26098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L’azienda può monitorare le candidature nella sezione «I miei candidati».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241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Nella sezione «I miei candidati» può scegliere la studentessa/lo studente tra coloro che si sono candidati.</a:t>
            </a:r>
          </a:p>
        </p:txBody>
      </p:sp>
      <p:pic>
        <p:nvPicPr>
          <p:cNvPr id="7" name="Picture 6" descr="a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209040"/>
            <a:ext cx="5980430" cy="2900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9140" y="1209040"/>
            <a:ext cx="5980430" cy="290068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5029200"/>
            <a:ext cx="6057900" cy="2914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9140" y="5029200"/>
            <a:ext cx="6057900" cy="29146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Da questa schermata è possibile accedere alla singola candidatura e, eventualmente, sceglierla cliccando su «Scegli (con notifica)».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749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Successivamente, l’ente dovrà compilare il progetto formativo (v. punto 5, «Progetto formativo»).</a:t>
            </a:r>
          </a:p>
        </p:txBody>
      </p:sp>
      <p:pic>
        <p:nvPicPr>
          <p:cNvPr id="7" name="Picture 6" descr="a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1398270"/>
            <a:ext cx="6057900" cy="29146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9140" y="1398270"/>
            <a:ext cx="6057900" cy="29146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4.  Avvio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5494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 alternativa all’inserimento di un’opportunità, qualora l’azienda sia venuta in contatto con uno studente (in possesso dei requisiti di carriera) al quale vorrebbe proporre lo stage, è possibile avviare direttamente un tirocinio attraverso la voce di menu «Avvio stage».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3721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Inserire il numero di matricola dello studente e cliccare su «Cerca studente».</a:t>
            </a:r>
          </a:p>
        </p:txBody>
      </p:sp>
      <p:pic>
        <p:nvPicPr>
          <p:cNvPr id="8" name="Picture 7" descr="a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2232660"/>
            <a:ext cx="6027420" cy="2700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9140" y="2232660"/>
            <a:ext cx="6027420" cy="270001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652770"/>
            <a:ext cx="6057900" cy="292480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0090" y="5652770"/>
            <a:ext cx="6057900" cy="292480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Selezionare, dai menu a tendina, la sede dello stage, la tipologia di opportunità, l’area disciplinare e la convenzione di riferimento.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4196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Inserite tutte le informazioni necessarie, cliccare su «Avvia stage».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003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Successivamente, l’ente dovrà compilare il progetto formativo (v. punto 5, «Progetto formativo»).</a:t>
            </a:r>
          </a:p>
        </p:txBody>
      </p:sp>
      <p:pic>
        <p:nvPicPr>
          <p:cNvPr id="8" name="Picture 7" descr="a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379220"/>
            <a:ext cx="6057900" cy="2914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0090" y="1379220"/>
            <a:ext cx="6057900" cy="291465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5.  Progetto formativo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5494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Confermata la candidatura dello studente a un’opportunità di stage, oppure selezionato direttamente lo studente tramite la funzione «Avvio stage», deve essere compilato il progetto formativo.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1562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Per poter compilare il progetto formativo è consigliabile aver prima: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54102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•	inserito il tutor aziendale nella sezione «Area azienda – Contatti»;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5638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•	inserito la sede operativa del tirocinio nella sezione «Area azienda – Sedi».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60706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 questo punto sarà possibile compilare i campi richiesti e cliccare su «Salva e invia».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63627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L’ente dovrà attendere l’accettazione da parte dello studente e del tutor accademico e il passaggio allo stato «Avviato» da parte dell’Ufficio d’Ateneo preposto.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68453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Da quel momento la studentessa/lo studente potrà avviare il tirocinio.</a:t>
            </a:r>
          </a:p>
        </p:txBody>
      </p:sp>
      <p:pic>
        <p:nvPicPr>
          <p:cNvPr id="13" name="Picture 12" descr="a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024380"/>
            <a:ext cx="6019800" cy="293369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0090" y="2024380"/>
            <a:ext cx="6019800" cy="293369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1600"/>
            <a:ext cx="26035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354310"/>
            <a:ext cx="7560309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GUIDA UTILIZZO TSP 2.0 – ENTI OSPITANTI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901700"/>
            <a:ext cx="6159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0000"/>
                </a:solidFill>
                <a:latin typeface="Calibri"/>
              </a:rPr>
              <a:t>6.  Approvazione registro presenze e compilazione questionario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4478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Al termine del periodo di tirocinio, il tutor aziendale deve: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7399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•	verificare e approvare il registro presenze (accessibile dalla voce «Periodi», sempre, o dal pulsante apposito, solo al termine dello stage);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2225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•	compilare il questionario di valutazione finale (accessibile dalla voce «Valutazione»).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578100"/>
            <a:ext cx="615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Calibri"/>
              </a:rPr>
              <a:t>Entrambi sono disponibili nella sezione «I miei stagisti».</a:t>
            </a:r>
          </a:p>
        </p:txBody>
      </p:sp>
      <p:pic>
        <p:nvPicPr>
          <p:cNvPr id="10" name="Picture 9" descr="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857500"/>
            <a:ext cx="6029960" cy="290449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0090" y="2857500"/>
            <a:ext cx="6029960" cy="290449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